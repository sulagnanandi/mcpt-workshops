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 Slab"/>
      <p:regular r:id="rId25"/>
      <p:bold r:id="rId26"/>
    </p:embeddedFon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Slab-bold.fntdata"/><Relationship Id="rId25" Type="http://schemas.openxmlformats.org/officeDocument/2006/relationships/font" Target="fonts/RobotoSlab-regular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71f9fab3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71f9fab3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1f9fab31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71f9fab31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1f9fab31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71f9fab31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1f9fab31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1f9fab31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2e083f35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e2e083f35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1f9fab31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1f9fab31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2e083f35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e2e083f35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2e083f3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2e083f3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2e083f35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2e083f35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2e083f35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2e083f35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2e083f35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e2e083f35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e2e083f35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e2e083f35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2e083f35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e2e083f35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2e083f35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2e083f35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2e083f35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2e083f35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2e083f35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2e083f35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2e083f35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e2e083f35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1f9fab31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1f9fab31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ICD2O Workshop 2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How to create your Maze of Learning!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Skills we'll be going over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CA" sz="2100"/>
              <a:t>Drawing</a:t>
            </a:r>
            <a:r>
              <a:rPr lang="en-CA" sz="2100"/>
              <a:t> the maze (in CORNERS mode) and creat</a:t>
            </a:r>
            <a:r>
              <a:rPr lang="en-CA" sz="2100"/>
              <a:t>ing </a:t>
            </a:r>
            <a:r>
              <a:rPr lang="en-CA" sz="2100"/>
              <a:t>the maze traveller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CA" sz="2100"/>
              <a:t>Collision detection in the maze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CA" sz="2100"/>
              <a:t>Key input for the maze traveller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CA" sz="2100"/>
              <a:t>Creating a pop-up textbox 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Download the code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Copy the following URL and download the files so that you can follow along and do the hands-on activities!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Download </a:t>
            </a:r>
            <a:r>
              <a:rPr b="1" lang="en-CA"/>
              <a:t>BOTH FILES</a:t>
            </a:r>
            <a:r>
              <a:rPr lang="en-CA"/>
              <a:t>. The file that says STUDENT does not have the full code/answers while the other one does! We'll be starting with the STUDENT file but you'll need the full one later.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3000" u="sng"/>
              <a:t>tinyurl.com/icsmazedemo</a:t>
            </a:r>
            <a:endParaRPr b="1" sz="3000"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Getting Started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ballX, ballY, keyJustPressed, and ballOutsideBoundaries are the new global variables.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>
                <a:solidFill>
                  <a:srgbClr val="EA9999"/>
                </a:solidFill>
              </a:rPr>
              <a:t>ballX and ballY </a:t>
            </a:r>
            <a:r>
              <a:rPr lang="en-CA"/>
              <a:t>will control the x and y coordinates of our maze traveller.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>
                <a:solidFill>
                  <a:srgbClr val="EA9999"/>
                </a:solidFill>
              </a:rPr>
              <a:t>ballOutsideBoundaries</a:t>
            </a:r>
            <a:r>
              <a:rPr lang="en-CA"/>
              <a:t> will be used for collision detection.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>
                <a:solidFill>
                  <a:srgbClr val="EA9999"/>
                </a:solidFill>
              </a:rPr>
              <a:t>keyJustPressed</a:t>
            </a:r>
            <a:r>
              <a:rPr lang="en-CA"/>
              <a:t> will help the maze traveller smoothly go through the maze.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0650" y="1545800"/>
            <a:ext cx="3964049" cy="29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Drawing the Maze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Use Canva to plan it out.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Put Processing into rectMode(CORNERS).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Now when you make a rectangle, the arguments will be rect(topleft-x, topleft-y, bottomright-x, bottomright-y)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This rectangles mode will help us later with collision detection.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8775" y="1489825"/>
            <a:ext cx="3602875" cy="289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Drawing the Maze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Use Canva to plan it out.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Put Processing into rectMode(CORNERS) in the </a:t>
            </a:r>
            <a:r>
              <a:rPr b="1" lang="en-CA">
                <a:solidFill>
                  <a:srgbClr val="EA9999"/>
                </a:solidFill>
              </a:rPr>
              <a:t>maze() method</a:t>
            </a:r>
            <a:r>
              <a:rPr lang="en-CA"/>
              <a:t>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Now when you make a rectangle, the arguments will be rect(topleft-x, topleft-y, bottomright-x, bottomright-y)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This rectangles mode will help us later with collision detection.</a:t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475" y="1446975"/>
            <a:ext cx="3169942" cy="307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Maze Traveller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Just some shape that goes through your maze that the user can </a:t>
            </a:r>
            <a:r>
              <a:rPr lang="en-CA"/>
              <a:t>control with arrow keys.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Can be a more complex character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In our demo, it's just a red ellipse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/>
              <a:t>Important: </a:t>
            </a:r>
            <a:r>
              <a:rPr b="1" lang="en-CA">
                <a:solidFill>
                  <a:srgbClr val="EA9999"/>
                </a:solidFill>
              </a:rPr>
              <a:t>ballX and ballY</a:t>
            </a:r>
            <a:r>
              <a:rPr b="1" lang="en-CA"/>
              <a:t> </a:t>
            </a:r>
            <a:r>
              <a:rPr lang="en-CA"/>
              <a:t>will be the x and y coordinates of our maze traveller.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/>
              <a:t>Changing </a:t>
            </a:r>
            <a:r>
              <a:rPr b="1" lang="en-CA">
                <a:solidFill>
                  <a:srgbClr val="EA9999"/>
                </a:solidFill>
              </a:rPr>
              <a:t>ballX and ballY</a:t>
            </a:r>
            <a:r>
              <a:rPr b="1" lang="en-CA"/>
              <a:t> will move our maze traveller.</a:t>
            </a:r>
            <a:endParaRPr b="1"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0675" y="2229074"/>
            <a:ext cx="3652176" cy="16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Collision Detection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Before we start coding key input to move our maze traveller, we need to do some collision detection!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Remember all those rectangles we drew? </a:t>
            </a:r>
            <a:r>
              <a:rPr b="1" lang="en-CA"/>
              <a:t>The </a:t>
            </a:r>
            <a:r>
              <a:rPr b="1" lang="en-CA"/>
              <a:t>maze traveller </a:t>
            </a:r>
            <a:r>
              <a:rPr b="1" lang="en-CA"/>
              <a:t>needs to travel </a:t>
            </a:r>
            <a:r>
              <a:rPr b="1" lang="en-CA" u="sng"/>
              <a:t>BETWEEN</a:t>
            </a:r>
            <a:r>
              <a:rPr b="1" lang="en-CA"/>
              <a:t> those rectangles.</a:t>
            </a:r>
            <a:endParaRPr b="1"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If the </a:t>
            </a:r>
            <a:r>
              <a:rPr lang="en-CA"/>
              <a:t>maze traveller hits any of those rectangles, it should stop moving!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7725" y="1832688"/>
            <a:ext cx="3837774" cy="239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Collision Detection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Use the variable </a:t>
            </a:r>
            <a:r>
              <a:rPr b="1" lang="en-CA">
                <a:solidFill>
                  <a:srgbClr val="EA9999"/>
                </a:solidFill>
              </a:rPr>
              <a:t>ballOutsideBoundaries</a:t>
            </a:r>
            <a:endParaRPr b="1">
              <a:solidFill>
                <a:srgbClr val="EA9999"/>
              </a:solidFill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>
                <a:solidFill>
                  <a:srgbClr val="EA9999"/>
                </a:solidFill>
              </a:rPr>
              <a:t>ballOutsideBoundaries</a:t>
            </a:r>
            <a:r>
              <a:rPr lang="en-CA">
                <a:solidFill>
                  <a:srgbClr val="EA9999"/>
                </a:solidFill>
              </a:rPr>
              <a:t> </a:t>
            </a:r>
            <a:r>
              <a:rPr lang="en-CA"/>
              <a:t>should be </a:t>
            </a:r>
            <a:r>
              <a:rPr b="1" lang="en-CA" u="sng"/>
              <a:t>TRUE</a:t>
            </a:r>
            <a:r>
              <a:rPr lang="en-CA"/>
              <a:t> if our maze traveller </a:t>
            </a:r>
            <a:r>
              <a:rPr b="1" lang="en-CA" u="sng"/>
              <a:t>goes into</a:t>
            </a:r>
            <a:r>
              <a:rPr lang="en-CA"/>
              <a:t> any of the dark green rectangles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Remember that </a:t>
            </a:r>
            <a:r>
              <a:rPr b="1" lang="en-CA">
                <a:solidFill>
                  <a:srgbClr val="EA9999"/>
                </a:solidFill>
              </a:rPr>
              <a:t>ballX and ballY </a:t>
            </a:r>
            <a:r>
              <a:rPr lang="en-CA"/>
              <a:t>are the coordinates of the maze traveller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7725" y="1832688"/>
            <a:ext cx="3837774" cy="239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Collision Detection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This means that the </a:t>
            </a:r>
            <a:r>
              <a:rPr b="1" lang="en-CA">
                <a:solidFill>
                  <a:srgbClr val="EA9999"/>
                </a:solidFill>
              </a:rPr>
              <a:t>MOST DIFFICULT PART</a:t>
            </a:r>
            <a:r>
              <a:rPr lang="en-CA"/>
              <a:t> is checking if (ballX, ballY) is inside any of the dark green rectangles.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To do this, check for each rectangle:</a:t>
            </a:r>
            <a:endParaRPr/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B26B"/>
              </a:buClr>
              <a:buSzPts val="1800"/>
              <a:buChar char="○"/>
            </a:pPr>
            <a:r>
              <a:rPr b="1" lang="en-CA" sz="1800">
                <a:solidFill>
                  <a:srgbClr val="F6B26B"/>
                </a:solidFill>
              </a:rPr>
              <a:t>ballX &gt; left edge</a:t>
            </a:r>
            <a:endParaRPr b="1" sz="1800">
              <a:solidFill>
                <a:srgbClr val="F6B26B"/>
              </a:solidFill>
            </a:endParaRPr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B26B"/>
              </a:buClr>
              <a:buSzPts val="1800"/>
              <a:buChar char="○"/>
            </a:pPr>
            <a:r>
              <a:rPr b="1" lang="en-CA" sz="1800">
                <a:solidFill>
                  <a:srgbClr val="F6B26B"/>
                </a:solidFill>
              </a:rPr>
              <a:t>ballX &lt; right edge</a:t>
            </a:r>
            <a:endParaRPr b="1" sz="1800">
              <a:solidFill>
                <a:srgbClr val="F6B26B"/>
              </a:solidFill>
            </a:endParaRPr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07E"/>
              </a:buClr>
              <a:buSzPts val="1800"/>
              <a:buChar char="○"/>
            </a:pPr>
            <a:r>
              <a:rPr b="1" lang="en-CA" sz="1800">
                <a:solidFill>
                  <a:srgbClr val="FFF07E"/>
                </a:solidFill>
              </a:rPr>
              <a:t>ballY &gt; top edge</a:t>
            </a:r>
            <a:endParaRPr b="1" sz="1800">
              <a:solidFill>
                <a:srgbClr val="FFF07E"/>
              </a:solidFill>
            </a:endParaRPr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07E"/>
              </a:buClr>
              <a:buSzPts val="1800"/>
              <a:buChar char="○"/>
            </a:pPr>
            <a:r>
              <a:rPr b="1" lang="en-CA" sz="1800">
                <a:solidFill>
                  <a:srgbClr val="FFF07E"/>
                </a:solidFill>
              </a:rPr>
              <a:t>ballY &lt; bottom edge</a:t>
            </a:r>
            <a:endParaRPr b="1" sz="1800">
              <a:solidFill>
                <a:srgbClr val="FFF07E"/>
              </a:solidFill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7725" y="1832688"/>
            <a:ext cx="3837774" cy="239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Collision Detection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For example, for the top right rectangle, we're checking:</a:t>
            </a:r>
            <a:endParaRPr/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B26B"/>
              </a:buClr>
              <a:buSzPts val="1800"/>
              <a:buChar char="○"/>
            </a:pPr>
            <a:r>
              <a:rPr b="1" lang="en-CA" sz="1800">
                <a:solidFill>
                  <a:srgbClr val="F6B26B"/>
                </a:solidFill>
              </a:rPr>
              <a:t>ballX &gt; 0</a:t>
            </a:r>
            <a:endParaRPr b="1" sz="1800">
              <a:solidFill>
                <a:srgbClr val="F6B26B"/>
              </a:solidFill>
            </a:endParaRPr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B26B"/>
              </a:buClr>
              <a:buSzPts val="1800"/>
              <a:buChar char="○"/>
            </a:pPr>
            <a:r>
              <a:rPr b="1" lang="en-CA" sz="1800">
                <a:solidFill>
                  <a:srgbClr val="F6B26B"/>
                </a:solidFill>
              </a:rPr>
              <a:t>ballX &lt; 190</a:t>
            </a:r>
            <a:endParaRPr b="1" sz="1800">
              <a:solidFill>
                <a:srgbClr val="F6B26B"/>
              </a:solidFill>
            </a:endParaRPr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07E"/>
              </a:buClr>
              <a:buSzPts val="1800"/>
              <a:buChar char="○"/>
            </a:pPr>
            <a:r>
              <a:rPr b="1" lang="en-CA" sz="1800">
                <a:solidFill>
                  <a:srgbClr val="FFF07E"/>
                </a:solidFill>
              </a:rPr>
              <a:t>ballY &gt; 0</a:t>
            </a:r>
            <a:endParaRPr b="1" sz="1800">
              <a:solidFill>
                <a:srgbClr val="FFF07E"/>
              </a:solidFill>
            </a:endParaRPr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07E"/>
              </a:buClr>
              <a:buSzPts val="1800"/>
              <a:buChar char="○"/>
            </a:pPr>
            <a:r>
              <a:rPr b="1" lang="en-CA" sz="1800">
                <a:solidFill>
                  <a:srgbClr val="FFF07E"/>
                </a:solidFill>
              </a:rPr>
              <a:t>ballY &lt; 90</a:t>
            </a:r>
            <a:endParaRPr sz="1800"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We drew this rectangle by doing: </a:t>
            </a:r>
            <a:r>
              <a:rPr b="1" lang="en-CA">
                <a:solidFill>
                  <a:srgbClr val="EA9999"/>
                </a:solidFill>
              </a:rPr>
              <a:t>rect(</a:t>
            </a:r>
            <a:r>
              <a:rPr b="1" lang="en-CA">
                <a:solidFill>
                  <a:srgbClr val="F6B26B"/>
                </a:solidFill>
              </a:rPr>
              <a:t>0</a:t>
            </a:r>
            <a:r>
              <a:rPr b="1" lang="en-CA">
                <a:solidFill>
                  <a:srgbClr val="EA9999"/>
                </a:solidFill>
              </a:rPr>
              <a:t>, </a:t>
            </a:r>
            <a:r>
              <a:rPr b="1" lang="en-CA">
                <a:solidFill>
                  <a:srgbClr val="FFF07E"/>
                </a:solidFill>
              </a:rPr>
              <a:t>0</a:t>
            </a:r>
            <a:r>
              <a:rPr b="1" lang="en-CA">
                <a:solidFill>
                  <a:srgbClr val="EA9999"/>
                </a:solidFill>
              </a:rPr>
              <a:t>, </a:t>
            </a:r>
            <a:r>
              <a:rPr b="1" lang="en-CA">
                <a:solidFill>
                  <a:srgbClr val="F6B26B"/>
                </a:solidFill>
              </a:rPr>
              <a:t>190</a:t>
            </a:r>
            <a:r>
              <a:rPr b="1" lang="en-CA">
                <a:solidFill>
                  <a:srgbClr val="EA9999"/>
                </a:solidFill>
              </a:rPr>
              <a:t>, </a:t>
            </a:r>
            <a:r>
              <a:rPr b="1" lang="en-CA">
                <a:solidFill>
                  <a:srgbClr val="FFF07E"/>
                </a:solidFill>
              </a:rPr>
              <a:t>90</a:t>
            </a:r>
            <a:r>
              <a:rPr b="1" lang="en-CA">
                <a:solidFill>
                  <a:srgbClr val="EA9999"/>
                </a:solidFill>
              </a:rPr>
              <a:t>)</a:t>
            </a:r>
            <a:endParaRPr b="1">
              <a:solidFill>
                <a:srgbClr val="EA9999"/>
              </a:solidFill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7725" y="1731638"/>
            <a:ext cx="3837774" cy="239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Collision Detection → Hands-On 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We must do this for ALL 22 rects!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Try doing it for the skinny rectangle on the right of the previous rectangle. Add it to the code where indicated.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/>
              <a:t>Answer: (</a:t>
            </a:r>
            <a:r>
              <a:rPr b="1" lang="en-CA">
                <a:solidFill>
                  <a:srgbClr val="F6B26B"/>
                </a:solidFill>
              </a:rPr>
              <a:t>ballX &gt; 217</a:t>
            </a:r>
            <a:r>
              <a:rPr b="1" lang="en-CA"/>
              <a:t> &amp;&amp; </a:t>
            </a:r>
            <a:r>
              <a:rPr b="1" lang="en-CA">
                <a:solidFill>
                  <a:srgbClr val="F6B26B"/>
                </a:solidFill>
              </a:rPr>
              <a:t>ballX&lt;406</a:t>
            </a:r>
            <a:r>
              <a:rPr b="1" lang="en-CA"/>
              <a:t> &amp;&amp; </a:t>
            </a:r>
            <a:r>
              <a:rPr b="1" lang="en-CA">
                <a:solidFill>
                  <a:srgbClr val="FFF07E"/>
                </a:solidFill>
              </a:rPr>
              <a:t>ballY &gt; 0</a:t>
            </a:r>
            <a:r>
              <a:rPr b="1" lang="en-CA"/>
              <a:t> &amp;&amp; </a:t>
            </a:r>
            <a:r>
              <a:rPr b="1" lang="en-CA">
                <a:solidFill>
                  <a:srgbClr val="FFF07E"/>
                </a:solidFill>
              </a:rPr>
              <a:t>ballY&lt;20</a:t>
            </a:r>
            <a:r>
              <a:rPr b="1" lang="en-CA"/>
              <a:t>)</a:t>
            </a:r>
            <a:endParaRPr b="1"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7725" y="1731638"/>
            <a:ext cx="3837774" cy="239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Collision Detection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Now go to the PDE file that does </a:t>
            </a:r>
            <a:r>
              <a:rPr b="1" lang="en-CA"/>
              <a:t>NOT</a:t>
            </a:r>
            <a:r>
              <a:rPr lang="en-CA"/>
              <a:t> say "student" in the file name.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Find the giant block as shown on the right.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u="sng"/>
              <a:t>Copy and paste it</a:t>
            </a:r>
            <a:r>
              <a:rPr lang="en-CA"/>
              <a:t> </a:t>
            </a:r>
            <a:r>
              <a:rPr lang="en-CA"/>
              <a:t>into your PDE file that has "student" in the file name.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>
                <a:solidFill>
                  <a:srgbClr val="EA9999"/>
                </a:solidFill>
              </a:rPr>
              <a:t>ballOutsideBoundaries</a:t>
            </a:r>
            <a:r>
              <a:rPr lang="en-CA"/>
              <a:t> (a boolean variable) will be </a:t>
            </a:r>
            <a:r>
              <a:rPr b="1" lang="en-CA">
                <a:solidFill>
                  <a:srgbClr val="EA9999"/>
                </a:solidFill>
              </a:rPr>
              <a:t>TRUE</a:t>
            </a:r>
            <a:r>
              <a:rPr b="1" lang="en-CA"/>
              <a:t> </a:t>
            </a:r>
            <a:r>
              <a:rPr lang="en-CA"/>
              <a:t>if the maze traveller is inside ANY of the dark green rectangles.</a:t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6575" y="1489825"/>
            <a:ext cx="3991155" cy="307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Key Input for Maze Traveller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We will be using the built-in Processing method </a:t>
            </a:r>
            <a:r>
              <a:rPr b="1" lang="en-CA">
                <a:solidFill>
                  <a:srgbClr val="EA9999"/>
                </a:solidFill>
              </a:rPr>
              <a:t>void keyPressed()</a:t>
            </a:r>
            <a:r>
              <a:rPr lang="en-CA">
                <a:solidFill>
                  <a:srgbClr val="EA9999"/>
                </a:solidFill>
              </a:rPr>
              <a:t> </a:t>
            </a:r>
            <a:r>
              <a:rPr lang="en-CA"/>
              <a:t>and the built-in variable </a:t>
            </a:r>
            <a:r>
              <a:rPr b="1" lang="en-CA">
                <a:solidFill>
                  <a:srgbClr val="EA9999"/>
                </a:solidFill>
              </a:rPr>
              <a:t>keyCode</a:t>
            </a:r>
            <a:endParaRPr b="1">
              <a:solidFill>
                <a:srgbClr val="EA9999"/>
              </a:solidFill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Depending on which arrow key you press, record that down in </a:t>
            </a:r>
            <a:r>
              <a:rPr b="1" lang="en-CA">
                <a:solidFill>
                  <a:srgbClr val="EA9999"/>
                </a:solidFill>
              </a:rPr>
              <a:t>keyJustPressed</a:t>
            </a:r>
            <a:r>
              <a:rPr lang="en-CA"/>
              <a:t> and adjust </a:t>
            </a:r>
            <a:r>
              <a:rPr b="1" lang="en-CA">
                <a:solidFill>
                  <a:srgbClr val="EA9999"/>
                </a:solidFill>
              </a:rPr>
              <a:t>ballX and ballY </a:t>
            </a:r>
            <a:r>
              <a:rPr lang="en-CA"/>
              <a:t>accordingly.</a:t>
            </a: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475" y="1919288"/>
            <a:ext cx="3884951" cy="221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Key Input for Maze Traveller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But wait! What happens when my ball accidentally hits a rectangle? How can I get it moving again?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That's what the second part is for!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If you </a:t>
            </a:r>
            <a:r>
              <a:rPr b="1" lang="en-CA">
                <a:solidFill>
                  <a:srgbClr val="EA9999"/>
                </a:solidFill>
              </a:rPr>
              <a:t>JUST PRESSED</a:t>
            </a:r>
            <a:r>
              <a:rPr lang="en-CA"/>
              <a:t> the left arrow key and bumped into a rectangle, you should be able to get out using the </a:t>
            </a:r>
            <a:r>
              <a:rPr b="1" lang="en-CA" u="sng"/>
              <a:t>opposite arrow key</a:t>
            </a:r>
            <a:r>
              <a:rPr lang="en-CA"/>
              <a:t> (right)!</a:t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3200" y="1442100"/>
            <a:ext cx="3351450" cy="317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Creating a Pop-Up Textbox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See where it says "Psst!"?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We're going to write some code so that, if the maze traveller hits that "Psst!" ellipse, a textbox will show up.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As soon as the maze traveller leaves that ellipse, the textbox should disappear.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You can use this format to teach the user lessons in a fun way!</a:t>
            </a:r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8150" y="1788924"/>
            <a:ext cx="3994201" cy="24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Creating a Pop-Up Textbox → Hands-On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Go to you STUDENT file and scroll to the maze() method.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This textbox will work with collision detection!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ONLY WHEN you maze traveller is TOUCHING the ellipse, this textbox will show.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Use an if statement!</a:t>
            </a:r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1475" y="2317474"/>
            <a:ext cx="3931450" cy="14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709350" y="424425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Creating a Pop-Up Textbox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Remember! We're checking:</a:t>
            </a:r>
            <a:endParaRPr/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B26B"/>
              </a:buClr>
              <a:buSzPts val="1800"/>
              <a:buChar char="○"/>
            </a:pPr>
            <a:r>
              <a:rPr b="1" lang="en-CA" sz="1800">
                <a:solidFill>
                  <a:srgbClr val="F6B26B"/>
                </a:solidFill>
              </a:rPr>
              <a:t>ballX &gt; left edge</a:t>
            </a:r>
            <a:endParaRPr b="1" sz="1800">
              <a:solidFill>
                <a:srgbClr val="F6B26B"/>
              </a:solidFill>
            </a:endParaRPr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B26B"/>
              </a:buClr>
              <a:buSzPts val="1800"/>
              <a:buChar char="○"/>
            </a:pPr>
            <a:r>
              <a:rPr b="1" lang="en-CA" sz="1800">
                <a:solidFill>
                  <a:srgbClr val="F6B26B"/>
                </a:solidFill>
              </a:rPr>
              <a:t>ballX &lt; right edge</a:t>
            </a:r>
            <a:endParaRPr b="1" sz="1800">
              <a:solidFill>
                <a:srgbClr val="F6B26B"/>
              </a:solidFill>
            </a:endParaRPr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07E"/>
              </a:buClr>
              <a:buSzPts val="1800"/>
              <a:buChar char="○"/>
            </a:pPr>
            <a:r>
              <a:rPr b="1" lang="en-CA" sz="1800">
                <a:solidFill>
                  <a:srgbClr val="FFF07E"/>
                </a:solidFill>
              </a:rPr>
              <a:t>ballY &gt; top edge</a:t>
            </a:r>
            <a:endParaRPr b="1" sz="1800">
              <a:solidFill>
                <a:srgbClr val="FFF07E"/>
              </a:solidFill>
            </a:endParaRPr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07E"/>
              </a:buClr>
              <a:buSzPts val="1800"/>
              <a:buChar char="○"/>
            </a:pPr>
            <a:r>
              <a:rPr b="1" lang="en-CA" sz="1800">
                <a:solidFill>
                  <a:srgbClr val="FFF07E"/>
                </a:solidFill>
              </a:rPr>
              <a:t>ballY &lt; bottom edge</a:t>
            </a:r>
            <a:endParaRPr b="1" sz="1800">
              <a:solidFill>
                <a:srgbClr val="FFF07E"/>
              </a:solidFill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/>
              <a:t>With our ellipse</a:t>
            </a:r>
            <a:endParaRPr/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B26B"/>
              </a:buClr>
              <a:buSzPts val="1800"/>
              <a:buChar char="○"/>
            </a:pPr>
            <a:r>
              <a:rPr b="1" lang="en-CA" sz="1800">
                <a:solidFill>
                  <a:srgbClr val="F6B26B"/>
                </a:solidFill>
              </a:rPr>
              <a:t>left edge: 528 - 45</a:t>
            </a:r>
            <a:endParaRPr b="1" sz="1800">
              <a:solidFill>
                <a:srgbClr val="F6B26B"/>
              </a:solidFill>
            </a:endParaRPr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B26B"/>
              </a:buClr>
              <a:buSzPts val="1800"/>
              <a:buChar char="○"/>
            </a:pPr>
            <a:r>
              <a:rPr b="1" lang="en-CA" sz="1800">
                <a:solidFill>
                  <a:srgbClr val="F6B26B"/>
                </a:solidFill>
              </a:rPr>
              <a:t>right edge: 528 + 45</a:t>
            </a:r>
            <a:endParaRPr b="1" sz="1800">
              <a:solidFill>
                <a:srgbClr val="F6B26B"/>
              </a:solidFill>
            </a:endParaRPr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07E"/>
              </a:buClr>
              <a:buSzPts val="1800"/>
              <a:buChar char="○"/>
            </a:pPr>
            <a:r>
              <a:rPr b="1" lang="en-CA" sz="1800">
                <a:solidFill>
                  <a:srgbClr val="FFF07E"/>
                </a:solidFill>
              </a:rPr>
              <a:t>top edge: 82 - 12</a:t>
            </a:r>
            <a:endParaRPr b="1" sz="1800">
              <a:solidFill>
                <a:srgbClr val="FFF07E"/>
              </a:solidFill>
            </a:endParaRPr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07E"/>
              </a:buClr>
              <a:buSzPts val="1800"/>
              <a:buChar char="○"/>
            </a:pPr>
            <a:r>
              <a:rPr b="1" lang="en-CA" sz="1800">
                <a:solidFill>
                  <a:srgbClr val="FFF07E"/>
                </a:solidFill>
              </a:rPr>
              <a:t>bottom edge: 82 + 12</a:t>
            </a:r>
            <a:endParaRPr b="1" sz="1800">
              <a:solidFill>
                <a:srgbClr val="FFF07E"/>
              </a:solidFill>
            </a:endParaRPr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750" y="2347625"/>
            <a:ext cx="4895025" cy="136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709350" y="2228700"/>
            <a:ext cx="772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4000"/>
              <a:t>Thank you for coming!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